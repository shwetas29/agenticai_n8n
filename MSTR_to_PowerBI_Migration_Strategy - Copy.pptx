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47293" autoAdjust="0"/>
  </p:normalViewPr>
  <p:slideViewPr>
    <p:cSldViewPr snapToGrid="0" snapToObjects="1">
      <p:cViewPr>
        <p:scale>
          <a:sx n="75" d="100"/>
          <a:sy n="75" d="100"/>
        </p:scale>
        <p:origin x="300" y="-8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859E0-8DE7-4A66-9E78-B8DAAAA6255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F4088-6F9F-4226-9CDA-23997ED9E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84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“Let me start with a simple question.</a:t>
            </a:r>
          </a:p>
          <a:p>
            <a:r>
              <a:rPr lang="en-US" b="1" dirty="0"/>
              <a:t>If a business has trusted a report for years, and we migrate that report to a new platform — how do we know we've actually migrated the business logic, and not just the visuals?</a:t>
            </a:r>
            <a:endParaRPr lang="en-US" dirty="0"/>
          </a:p>
          <a:p>
            <a:r>
              <a:rPr lang="en-US" dirty="0"/>
              <a:t>That’s the problem I wanted to solve with this approach.</a:t>
            </a:r>
          </a:p>
          <a:p>
            <a:r>
              <a:rPr lang="en-US" dirty="0"/>
              <a:t>Because for me, a MicroStrategy to Power BI migration is not really a report conversion exercise.</a:t>
            </a:r>
          </a:p>
          <a:p>
            <a:r>
              <a:rPr lang="en-US" dirty="0"/>
              <a:t>A report can look exactly the same and still give a different answer.</a:t>
            </a:r>
          </a:p>
          <a:p>
            <a:r>
              <a:rPr lang="en-US" dirty="0"/>
              <a:t>The real challenge is preserving the things behind that report — </a:t>
            </a:r>
            <a:r>
              <a:rPr lang="en-US" b="1" dirty="0"/>
              <a:t>the meaning of the metrics, the security rules, the way users interact with the data, and ultimately the decisions they make from it.</a:t>
            </a:r>
            <a:endParaRPr lang="en-US" dirty="0"/>
          </a:p>
          <a:p>
            <a:r>
              <a:rPr lang="en-US" dirty="0"/>
              <a:t>So, my approach is built around three things: </a:t>
            </a:r>
            <a:r>
              <a:rPr lang="en-US" b="1" dirty="0"/>
              <a:t>semantics, security and experience.</a:t>
            </a:r>
            <a:endParaRPr lang="en-US" dirty="0"/>
          </a:p>
          <a:p>
            <a:r>
              <a:rPr lang="en-US" dirty="0"/>
              <a:t>And then the bigger question becomes — how do we do that consistently across hundreds or thousands of reports without making every migration a one-off project?</a:t>
            </a:r>
          </a:p>
          <a:p>
            <a:r>
              <a:rPr lang="en-US" dirty="0"/>
              <a:t>That’s where the idea of a </a:t>
            </a:r>
            <a:r>
              <a:rPr lang="en-US" b="1" dirty="0"/>
              <a:t>migration control loop and migration factory</a:t>
            </a:r>
            <a:r>
              <a:rPr lang="en-US" dirty="0"/>
              <a:t> comes in.</a:t>
            </a:r>
          </a:p>
          <a:p>
            <a:r>
              <a:rPr lang="en-US" dirty="0"/>
              <a:t>And that's what I'll walk you through.”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4088-6F9F-4226-9CDA-23997ED9EB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61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control loop I would use for the migration.</a:t>
            </a:r>
          </a:p>
          <a:p>
            <a:r>
              <a:rPr lang="en-US" dirty="0"/>
              <a:t>I don't want every report to become a completely different project. I want the team to follow the same basic process.</a:t>
            </a:r>
          </a:p>
          <a:p>
            <a:r>
              <a:rPr lang="en-US" dirty="0"/>
              <a:t>We start with </a:t>
            </a:r>
            <a:r>
              <a:rPr lang="en-US" b="1" dirty="0"/>
              <a:t>Discover</a:t>
            </a:r>
            <a:r>
              <a:rPr lang="en-US" dirty="0"/>
              <a:t> — understand what reports exist, who uses them, what they depend on.</a:t>
            </a:r>
          </a:p>
          <a:p>
            <a:r>
              <a:rPr lang="en-US" dirty="0"/>
              <a:t>Then we </a:t>
            </a:r>
            <a:r>
              <a:rPr lang="en-US" b="1" dirty="0"/>
              <a:t>Assess</a:t>
            </a:r>
            <a:r>
              <a:rPr lang="en-US" dirty="0"/>
              <a:t> the complexity. Things like prompts, filters, metrics and security can make a report much harder to migrate than it looks.</a:t>
            </a:r>
          </a:p>
          <a:p>
            <a:r>
              <a:rPr lang="en-US" dirty="0"/>
              <a:t>Then comes </a:t>
            </a:r>
            <a:r>
              <a:rPr lang="en-US" b="1" dirty="0"/>
              <a:t>Classify</a:t>
            </a:r>
            <a:r>
              <a:rPr lang="en-US" dirty="0"/>
              <a:t>. This is where we decide whether we should migrate it as-is, consolidate it with something else, redesign it, or potentially retire it.</a:t>
            </a:r>
          </a:p>
          <a:p>
            <a:r>
              <a:rPr lang="en-US" dirty="0"/>
              <a:t>After that we </a:t>
            </a:r>
            <a:r>
              <a:rPr lang="en-US" b="1" dirty="0"/>
              <a:t>Transform</a:t>
            </a:r>
            <a:r>
              <a:rPr lang="en-US" dirty="0"/>
              <a:t> — that's where the actual Power BI work happens.</a:t>
            </a:r>
          </a:p>
          <a:p>
            <a:r>
              <a:rPr lang="en-US" dirty="0"/>
              <a:t>Then we </a:t>
            </a:r>
            <a:r>
              <a:rPr lang="en-US" b="1" dirty="0"/>
              <a:t>Validate</a:t>
            </a:r>
            <a:r>
              <a:rPr lang="en-US" dirty="0"/>
              <a:t> it. And I think this is one of the most important parts, because we don't just want the report to look right. We need to check the data, calculations, behavior and security.</a:t>
            </a:r>
          </a:p>
          <a:p>
            <a:r>
              <a:rPr lang="en-US" dirty="0"/>
              <a:t>And finally, </a:t>
            </a:r>
            <a:r>
              <a:rPr lang="en-US" b="1" dirty="0"/>
              <a:t>Certify</a:t>
            </a:r>
            <a:r>
              <a:rPr lang="en-US" dirty="0"/>
              <a:t> it with business sign-off.</a:t>
            </a:r>
          </a:p>
          <a:p>
            <a:r>
              <a:rPr lang="en-US" dirty="0"/>
              <a:t>The main idea here is that if we standardize the decision process first, then we can scale the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4088-6F9F-4226-9CDA-23997ED9EB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21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“Once we have that process, I would divide the actual work into three lanes.</a:t>
            </a:r>
          </a:p>
          <a:p>
            <a:r>
              <a:rPr lang="en-US" dirty="0"/>
              <a:t>The first one is </a:t>
            </a:r>
            <a:r>
              <a:rPr lang="en-US" b="1" dirty="0"/>
              <a:t>Automate</a:t>
            </a:r>
            <a:r>
              <a:rPr lang="en-US" dirty="0"/>
              <a:t>. These are things that are repetitive and predictable — metadata extraction, standard mappings, some common DAX patterns, documentation and checks.</a:t>
            </a:r>
          </a:p>
          <a:p>
            <a:r>
              <a:rPr lang="en-US" dirty="0"/>
              <a:t>Then we have </a:t>
            </a:r>
            <a:r>
              <a:rPr lang="en-US" b="1" dirty="0"/>
              <a:t>Review</a:t>
            </a:r>
            <a:r>
              <a:rPr lang="en-US" dirty="0"/>
              <a:t>. These are areas where automation can help, but I still want someone looking at the result. For example, complex metrics, , prompt </a:t>
            </a:r>
            <a:r>
              <a:rPr lang="en-US" dirty="0" err="1"/>
              <a:t>behaviour</a:t>
            </a:r>
            <a:r>
              <a:rPr lang="en-US" dirty="0"/>
              <a:t>, aggregation choices or security mappings.</a:t>
            </a:r>
          </a:p>
          <a:p>
            <a:r>
              <a:rPr lang="en-US" dirty="0"/>
              <a:t>And then there are things I would </a:t>
            </a:r>
            <a:r>
              <a:rPr lang="en-US" b="1" dirty="0"/>
              <a:t>hand-build</a:t>
            </a:r>
            <a:r>
              <a:rPr lang="en-US" dirty="0"/>
              <a:t>. If the report has very unique MicroStrategy logic, complicated modelling, or needs a significant UX redesign, trying to force automation there may actually create more problems.</a:t>
            </a:r>
          </a:p>
          <a:p>
            <a:r>
              <a:rPr lang="en-US" dirty="0"/>
              <a:t>So I'm not trying to automate everything.</a:t>
            </a:r>
          </a:p>
          <a:p>
            <a:r>
              <a:rPr lang="en-US" dirty="0"/>
              <a:t>I'm trying to automate the things that are safe to automate, while keeping people involved where the business context really matters.</a:t>
            </a:r>
          </a:p>
          <a:p>
            <a:r>
              <a:rPr lang="en-US" dirty="0"/>
              <a:t>That's why I call human-in-the-loop a </a:t>
            </a:r>
            <a:r>
              <a:rPr lang="en-US" b="1" dirty="0"/>
              <a:t>control rather than a bottleneck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4088-6F9F-4226-9CDA-23997ED9EB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17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I would bring the different pieces together.</a:t>
            </a:r>
          </a:p>
          <a:p>
            <a:r>
              <a:rPr lang="en-US" dirty="0"/>
              <a:t>At the beginning, we have the existing MicroStrategy environment — reports, dossiers, metrics and so on.</a:t>
            </a:r>
          </a:p>
          <a:p>
            <a:r>
              <a:rPr lang="en-US" dirty="0"/>
              <a:t>Then we have an assessment and metadata layer, where we're trying to understand what we're actually dealing with.</a:t>
            </a:r>
          </a:p>
          <a:p>
            <a:r>
              <a:rPr lang="en-US" dirty="0"/>
              <a:t>From there, the migration accelerator gives us reusable templates, rules and patterns rather than starting from scratch every time.</a:t>
            </a:r>
          </a:p>
          <a:p>
            <a:r>
              <a:rPr lang="en-US" dirty="0"/>
              <a:t>Then we move into Power BI and Fabric, where we build the semantic model, DAX, visuals and security.</a:t>
            </a:r>
          </a:p>
          <a:p>
            <a:r>
              <a:rPr lang="en-US" dirty="0"/>
              <a:t>But I also want a validation and certification layer around that.</a:t>
            </a:r>
          </a:p>
          <a:p>
            <a:r>
              <a:rPr lang="en-US" dirty="0"/>
              <a:t>And the piece I think is particularly important is the </a:t>
            </a:r>
            <a:r>
              <a:rPr lang="en-US" b="1" dirty="0"/>
              <a:t>decision and evidence layer</a:t>
            </a:r>
            <a:r>
              <a:rPr lang="en-US" dirty="0"/>
              <a:t>.</a:t>
            </a:r>
          </a:p>
          <a:p>
            <a:r>
              <a:rPr lang="en-US" dirty="0"/>
              <a:t>I want to be able to answer questions like: why did we classify this report this way? What mapping did we use? What validation was performed? Who approved it?</a:t>
            </a:r>
          </a:p>
          <a:p>
            <a:r>
              <a:rPr lang="en-US" dirty="0"/>
              <a:t>That becomes really useful when you're doing hundreds or thousands of reports, because you're not relying on someone's memory of why a decision was made.”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4088-6F9F-4226-9CDA-23997ED9EB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I'm showing three different examples because not every report should be approached in exactly the same way.</a:t>
            </a:r>
          </a:p>
          <a:p>
            <a:r>
              <a:rPr lang="en-US" dirty="0"/>
              <a:t>The first one is a regional sales report. At first glance, you might think this is just taking a MicroStrategy matrix and creating a Power BI matrix.</a:t>
            </a:r>
          </a:p>
          <a:p>
            <a:r>
              <a:rPr lang="en-US" dirty="0"/>
              <a:t>But that's not really the difficult part.</a:t>
            </a:r>
          </a:p>
          <a:p>
            <a:r>
              <a:rPr lang="en-US" dirty="0"/>
              <a:t>We need to make sure the underlying model and DAX produce the same meaning — revenue, margin percentage, units, subtotals and so on.</a:t>
            </a:r>
          </a:p>
          <a:p>
            <a:r>
              <a:rPr lang="en-US" dirty="0"/>
              <a:t>The second example is more of an operational dashboard. Here the important thing is the user experience — things like slicer </a:t>
            </a:r>
            <a:r>
              <a:rPr lang="en-US" dirty="0" err="1"/>
              <a:t>behaviour</a:t>
            </a:r>
            <a:r>
              <a:rPr lang="en-US" dirty="0"/>
              <a:t> and drill paths.</a:t>
            </a:r>
          </a:p>
          <a:p>
            <a:r>
              <a:rPr lang="en-US" dirty="0"/>
              <a:t>And the third example brings in security and Top 10 logic.</a:t>
            </a:r>
          </a:p>
          <a:p>
            <a:r>
              <a:rPr lang="en-US" dirty="0"/>
              <a:t>Here, I need to think about things like RLS and whether the Top 10 is being calculated over the data that the particular user is actually allowed to see.</a:t>
            </a:r>
          </a:p>
          <a:p>
            <a:r>
              <a:rPr lang="en-US" dirty="0"/>
              <a:t>So the point I'm trying to make with these examples is that </a:t>
            </a:r>
            <a:r>
              <a:rPr lang="en-US" b="1" dirty="0"/>
              <a:t>the visual itself is usually not the hardest part of the migration.</a:t>
            </a:r>
            <a:endParaRPr lang="en-US" dirty="0"/>
          </a:p>
          <a:p>
            <a:r>
              <a:rPr lang="en-US" dirty="0"/>
              <a:t>The real risk is underneath it — semantics, context and security.”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4088-6F9F-4226-9CDA-23997ED9EB9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08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“Once we've built the Power BI version, I wouldn't consider the migration finished just because the report opens and looks similar.</a:t>
            </a:r>
          </a:p>
          <a:p>
            <a:r>
              <a:rPr lang="en-US" dirty="0"/>
              <a:t>I would validate it across a few different dimensions.</a:t>
            </a:r>
          </a:p>
          <a:p>
            <a:r>
              <a:rPr lang="en-US" dirty="0"/>
              <a:t>First, the actual data — do the totals and aggregates match?</a:t>
            </a:r>
          </a:p>
          <a:p>
            <a:r>
              <a:rPr lang="en-US" dirty="0"/>
              <a:t>Then the metrics — are revenue, margin and other calculations behaving correctly?</a:t>
            </a:r>
          </a:p>
          <a:p>
            <a:r>
              <a:rPr lang="en-US" dirty="0"/>
              <a:t>Then </a:t>
            </a:r>
            <a:r>
              <a:rPr lang="en-US" dirty="0" err="1"/>
              <a:t>behaviour</a:t>
            </a:r>
            <a:r>
              <a:rPr lang="en-US" dirty="0"/>
              <a:t> — do filters, dates, Top 10 and drill paths work the way users expect?</a:t>
            </a:r>
          </a:p>
          <a:p>
            <a:r>
              <a:rPr lang="en-US" dirty="0"/>
              <a:t>Security is another big one. We need to make sure users can see what they're supposed to see, and nothing more.</a:t>
            </a:r>
          </a:p>
          <a:p>
            <a:r>
              <a:rPr lang="en-US" dirty="0"/>
              <a:t>And finally, performance. A report can be functionally correct but still not be usable if it's too slow or doesn't handle the expected load.</a:t>
            </a:r>
          </a:p>
          <a:p>
            <a:r>
              <a:rPr lang="en-US" dirty="0"/>
              <a:t>For cutover, I prefer a controlled approach — pilot first, then parallel running where needed, release, monitor, and have a rollback path.</a:t>
            </a:r>
          </a:p>
          <a:p>
            <a:r>
              <a:rPr lang="en-US" dirty="0"/>
              <a:t>The goal is to make sure we're not asking the business to take a leap of faith.”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4088-6F9F-4226-9CDA-23997ED9EB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18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this brings me to how I would actually scale the migration.</a:t>
            </a:r>
          </a:p>
          <a:p>
            <a:r>
              <a:rPr lang="en-US" dirty="0"/>
              <a:t>I wouldn't start by building a huge custom platform from day one.</a:t>
            </a:r>
          </a:p>
          <a:p>
            <a:r>
              <a:rPr lang="en-US" dirty="0"/>
              <a:t>I would first look at what tooling already exists and understand what it can handle well and where the gaps are.</a:t>
            </a:r>
          </a:p>
          <a:p>
            <a:r>
              <a:rPr lang="en-US" dirty="0"/>
              <a:t>Then, where I see the same problem happening again and again, that's where I'd build an internal accelerator — reusable templates, mappings, validation checks and migration reporting.</a:t>
            </a:r>
          </a:p>
          <a:p>
            <a:r>
              <a:rPr lang="en-US" dirty="0"/>
              <a:t>And throughout that process, I still want human &amp; business review for the areas that require judgement.</a:t>
            </a:r>
          </a:p>
          <a:p>
            <a:r>
              <a:rPr lang="en-US" dirty="0"/>
              <a:t>So if I had to summarize the whole approach in one sentence, it's this:</a:t>
            </a:r>
          </a:p>
          <a:p>
            <a:r>
              <a:rPr lang="en-US" b="1" dirty="0"/>
              <a:t>Automate the repeatable, review the business-critical, and hand-build the exceptional.</a:t>
            </a:r>
            <a:endParaRPr lang="en-US" dirty="0"/>
          </a:p>
          <a:p>
            <a:r>
              <a:rPr lang="en-US" dirty="0"/>
              <a:t>That's how I would try to increase migration speed without compromising trust.”</a:t>
            </a:r>
          </a:p>
          <a:p>
            <a:r>
              <a:rPr lang="en-US" dirty="0"/>
              <a:t>So that's really the approach I'm proposing.</a:t>
            </a:r>
          </a:p>
          <a:p>
            <a:r>
              <a:rPr lang="en-US" dirty="0"/>
              <a:t>I don't see migration as simply moving reports from one technology to another. I see it as creating a repeatable process where we can move quickly, but still know why something was migrated, how it was validated, and whether the business trusts the result.</a:t>
            </a:r>
          </a:p>
          <a:p>
            <a:r>
              <a:rPr lang="en-US" dirty="0"/>
              <a:t>And that's also where I think automation and AI can add value — not by replacing all of these decisions, but by helping us understand, orchestrate and accelerate the repetitive parts of the process.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4088-6F9F-4226-9CDA-23997ED9EB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87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54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116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278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47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86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9943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195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846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851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216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32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1101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202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82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313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8234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66609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1673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22006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58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87345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75599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3080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171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94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8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1070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  <p:sldLayoutId id="2147483777" r:id="rId21"/>
    <p:sldLayoutId id="2147483778" r:id="rId22"/>
    <p:sldLayoutId id="2147483779" r:id="rId23"/>
    <p:sldLayoutId id="2147483780" r:id="rId24"/>
    <p:sldLayoutId id="2147483781" r:id="rId25"/>
    <p:sldLayoutId id="2147483782" r:id="rId26"/>
    <p:sldLayoutId id="214748378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18B1A5"/>
                </a:solidFill>
                <a:latin typeface="Aptos"/>
              </a:defRPr>
            </a:pPr>
            <a:r>
              <a:t>PANEL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5295" y="1077941"/>
            <a:ext cx="6866249" cy="53245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3100" b="1">
                <a:solidFill>
                  <a:srgbClr val="F8FAFC"/>
                </a:solidFill>
                <a:latin typeface="Aptos"/>
              </a:defRPr>
            </a:pPr>
            <a:r>
              <a:rPr dirty="0"/>
              <a:t>MicroStrategy →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0015" y="1754040"/>
            <a:ext cx="9567744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1800" b="0">
                <a:solidFill>
                  <a:srgbClr val="E9EFF5"/>
                </a:solidFill>
                <a:latin typeface="Aptos"/>
              </a:defRPr>
            </a:pPr>
            <a:r>
              <a:rPr dirty="0"/>
              <a:t>A migration strategy built around trust, repeatability and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2316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112C3D"/>
          </a:solidFill>
          <a:ln>
            <a:solidFill>
              <a:srgbClr val="224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790650"/>
            <a:ext cx="521208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ptos"/>
              </a:defRPr>
            </a:pPr>
            <a:r>
              <a:rPr sz="2000" dirty="0"/>
              <a:t>The goal is not to recreate reports.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2786449"/>
            <a:ext cx="486156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2400" b="1">
                <a:solidFill>
                  <a:srgbClr val="F6A623"/>
                </a:solidFill>
                <a:latin typeface="Aptos"/>
              </a:defRPr>
            </a:pPr>
            <a:r>
              <a:rPr sz="2000" dirty="0"/>
              <a:t>It is to recreate trusted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950208"/>
            <a:ext cx="3401568" cy="1216152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153115"/>
            <a:ext cx="1031629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4CC9F0"/>
                </a:solidFill>
                <a:latin typeface="Aptos"/>
              </a:defRPr>
            </a:pPr>
            <a:r>
              <a:rPr sz="1400" dirty="0"/>
              <a:t>SEMANTICS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7240" y="4555450"/>
            <a:ext cx="2289986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2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Metrics • filters • aggregation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950208"/>
            <a:ext cx="3401568" cy="1216152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4153115"/>
            <a:ext cx="879215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F6A623"/>
                </a:solidFill>
                <a:latin typeface="Aptos"/>
              </a:defRPr>
            </a:pPr>
            <a:r>
              <a:rPr sz="1400" dirty="0"/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555450"/>
            <a:ext cx="2035814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2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RLS • OLS • access intent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950208"/>
            <a:ext cx="3401568" cy="1216152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4153115"/>
            <a:ext cx="1105367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18B1A5"/>
                </a:solidFill>
                <a:latin typeface="Aptos"/>
              </a:defRPr>
            </a:pPr>
            <a:r>
              <a:rPr sz="1400" dirty="0"/>
              <a:t>EXPERIENCE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183879" y="4555450"/>
            <a:ext cx="1983748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2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Prompts • drill • usability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4422"/>
            <a:ext cx="828047" cy="30162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ABBACB"/>
                </a:solidFill>
                <a:latin typeface="Aptos"/>
              </a:defRPr>
            </a:pPr>
            <a:r>
              <a:rPr sz="1600" dirty="0"/>
              <a:t>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5597574"/>
            <a:ext cx="7033079" cy="2862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rPr dirty="0"/>
              <a:t>Standardize what repeats  •  Redesign what doesn’t  •  Prove every critical output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12700">
            <a:solidFill>
              <a:srgbClr val="273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800" b="0">
                <a:solidFill>
                  <a:srgbClr val="ABBACB"/>
                </a:solidFill>
                <a:latin typeface="Aptos"/>
              </a:defRPr>
            </a:pPr>
            <a:r>
              <a:t>MicroStrategy → Power BI | Migration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800" b="0">
                <a:solidFill>
                  <a:srgbClr val="ABBACB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6692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18B1A5"/>
                </a:solidFill>
                <a:latin typeface="Aptos"/>
              </a:defRPr>
            </a:pPr>
            <a:r>
              <a:t>01 | MIGRATION CONTROL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424160" cy="6583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From inventory to value — every report follows the same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114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1000" b="1">
                <a:solidFill>
                  <a:srgbClr val="ABBAC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112C3D"/>
          </a:solidFill>
          <a:ln>
            <a:solidFill>
              <a:srgbClr val="224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81912"/>
            <a:ext cx="315468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200" b="1">
                <a:solidFill>
                  <a:srgbClr val="E9EFF5"/>
                </a:solidFill>
                <a:latin typeface="Aptos"/>
              </a:defRPr>
            </a:pPr>
            <a:r>
              <a:t>Every report gets a deliberate disposition: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545336"/>
            <a:ext cx="987552" cy="292608"/>
          </a:xfrm>
          <a:prstGeom prst="roundRect">
            <a:avLst>
              <a:gd name="adj" fmla="val 12000"/>
            </a:avLst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69080" y="1554480"/>
            <a:ext cx="987552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900" b="1">
                <a:solidFill>
                  <a:srgbClr val="0D1827"/>
                </a:solidFill>
                <a:latin typeface="Aptos"/>
              </a:defRPr>
            </a:pPr>
            <a:r>
              <a:t>MIGRATE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3792" y="1545336"/>
            <a:ext cx="1170432" cy="292608"/>
          </a:xfrm>
          <a:prstGeom prst="roundRect">
            <a:avLst>
              <a:gd name="adj" fmla="val 12000"/>
            </a:avLst>
          </a:prstGeom>
          <a:solidFill>
            <a:srgbClr val="4CC9F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3792" y="1554480"/>
            <a:ext cx="1170432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900" b="1">
                <a:solidFill>
                  <a:srgbClr val="0D1827"/>
                </a:solidFill>
                <a:latin typeface="Aptos"/>
              </a:defRPr>
            </a:pPr>
            <a:r>
              <a:t>CONSOLIDATE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0528" y="1545336"/>
            <a:ext cx="1024128" cy="292608"/>
          </a:xfrm>
          <a:prstGeom prst="roundRect">
            <a:avLst>
              <a:gd name="adj" fmla="val 12000"/>
            </a:avLst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554480"/>
            <a:ext cx="1024128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900" b="1">
                <a:solidFill>
                  <a:srgbClr val="0D1827"/>
                </a:solidFill>
                <a:latin typeface="Aptos"/>
              </a:defRPr>
            </a:pPr>
            <a:r>
              <a:t>REDESIGN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2" y="1545336"/>
            <a:ext cx="896112" cy="292608"/>
          </a:xfrm>
          <a:prstGeom prst="roundRect">
            <a:avLst>
              <a:gd name="adj" fmla="val 12000"/>
            </a:avLst>
          </a:prstGeom>
          <a:solidFill>
            <a:srgbClr val="DE5D5D"/>
          </a:solidFill>
          <a:ln>
            <a:solidFill>
              <a:srgbClr val="DE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2672" y="1554480"/>
            <a:ext cx="896112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900" b="1">
                <a:solidFill>
                  <a:srgbClr val="0D1827"/>
                </a:solidFill>
                <a:latin typeface="Aptos"/>
              </a:defRPr>
            </a:pPr>
            <a:r>
              <a:t>RETIRE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0509" y="1587721"/>
            <a:ext cx="2495171" cy="21698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1000" b="0">
                <a:solidFill>
                  <a:srgbClr val="ABBACB"/>
                </a:solidFill>
                <a:latin typeface="Aptos"/>
              </a:defRPr>
            </a:pPr>
            <a:r>
              <a:rPr sz="1050" dirty="0">
                <a:solidFill>
                  <a:srgbClr val="FFC000"/>
                </a:solidFill>
              </a:rPr>
              <a:t>based on value, complexity, risk and effort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31720"/>
            <a:ext cx="1719072" cy="28803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542032"/>
            <a:ext cx="41148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18B1A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2880360"/>
            <a:ext cx="1389888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257938"/>
            <a:ext cx="1339714" cy="91717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Inventory reports, dependencies, users, usage.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" y="4315968"/>
            <a:ext cx="1389887" cy="0"/>
          </a:xfrm>
          <a:prstGeom prst="line">
            <a:avLst/>
          </a:prstGeom>
          <a:ln w="12700">
            <a:solidFill>
              <a:srgbClr val="3A4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4587554"/>
            <a:ext cx="1719072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1000" b="1">
                <a:solidFill>
                  <a:srgbClr val="ABBACB"/>
                </a:solidFill>
                <a:latin typeface="Aptos"/>
              </a:defRPr>
            </a:pPr>
            <a:r>
              <a:rPr sz="1200" dirty="0"/>
              <a:t>What exists?</a:t>
            </a:r>
          </a:p>
        </p:txBody>
      </p:sp>
      <p:sp>
        <p:nvSpPr>
          <p:cNvPr id="22" name="Chevron 21"/>
          <p:cNvSpPr/>
          <p:nvPr/>
        </p:nvSpPr>
        <p:spPr>
          <a:xfrm>
            <a:off x="2031941" y="3566159"/>
            <a:ext cx="374786" cy="365751"/>
          </a:xfrm>
          <a:prstGeom prst="chevron">
            <a:avLst/>
          </a:prstGeom>
          <a:solidFill>
            <a:srgbClr val="52687E"/>
          </a:solidFill>
          <a:ln>
            <a:solidFill>
              <a:srgbClr val="52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423160" y="2331720"/>
            <a:ext cx="1719072" cy="28803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87752" y="2542032"/>
            <a:ext cx="41148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18B1A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7752" y="2880360"/>
            <a:ext cx="1389888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7751" y="3274567"/>
            <a:ext cx="1339715" cy="91717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Complexity, prompts, filters, metrics, security.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87752" y="4315968"/>
            <a:ext cx="1389887" cy="0"/>
          </a:xfrm>
          <a:prstGeom prst="line">
            <a:avLst/>
          </a:prstGeom>
          <a:ln w="12700">
            <a:solidFill>
              <a:srgbClr val="3A4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587752" y="4570839"/>
            <a:ext cx="1484061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ABBACB"/>
                </a:solidFill>
                <a:latin typeface="Aptos"/>
              </a:defRPr>
            </a:pPr>
            <a:r>
              <a:rPr sz="1200" dirty="0"/>
              <a:t>What makes it hard?</a:t>
            </a:r>
          </a:p>
        </p:txBody>
      </p:sp>
      <p:sp>
        <p:nvSpPr>
          <p:cNvPr id="29" name="Chevron 28"/>
          <p:cNvSpPr/>
          <p:nvPr/>
        </p:nvSpPr>
        <p:spPr>
          <a:xfrm>
            <a:off x="3922776" y="3543305"/>
            <a:ext cx="324612" cy="365750"/>
          </a:xfrm>
          <a:prstGeom prst="chevron">
            <a:avLst/>
          </a:prstGeom>
          <a:solidFill>
            <a:srgbClr val="52687E"/>
          </a:solidFill>
          <a:ln>
            <a:solidFill>
              <a:srgbClr val="52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251960" y="2331720"/>
            <a:ext cx="1719072" cy="28803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16552" y="2542032"/>
            <a:ext cx="41148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18B1A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2880360"/>
            <a:ext cx="1389888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CLASSIFY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3313743"/>
            <a:ext cx="1263567" cy="91717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Migrate / consolidate / redesign / retire.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16552" y="4315968"/>
            <a:ext cx="1389888" cy="0"/>
          </a:xfrm>
          <a:prstGeom prst="line">
            <a:avLst/>
          </a:prstGeom>
          <a:ln w="12700">
            <a:solidFill>
              <a:srgbClr val="3A4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16552" y="4570839"/>
            <a:ext cx="1459502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ABBACB"/>
                </a:solidFill>
                <a:latin typeface="Aptos"/>
              </a:defRPr>
            </a:pPr>
            <a:r>
              <a:rPr sz="1200" dirty="0"/>
              <a:t>What should we do?</a:t>
            </a:r>
          </a:p>
        </p:txBody>
      </p:sp>
      <p:sp>
        <p:nvSpPr>
          <p:cNvPr id="36" name="Chevron 35"/>
          <p:cNvSpPr/>
          <p:nvPr/>
        </p:nvSpPr>
        <p:spPr>
          <a:xfrm>
            <a:off x="5693835" y="3543304"/>
            <a:ext cx="363738" cy="388605"/>
          </a:xfrm>
          <a:prstGeom prst="chevron">
            <a:avLst/>
          </a:prstGeom>
          <a:solidFill>
            <a:srgbClr val="52687E"/>
          </a:solidFill>
          <a:ln>
            <a:solidFill>
              <a:srgbClr val="52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080760" y="2331720"/>
            <a:ext cx="1719072" cy="28803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45352" y="2542032"/>
            <a:ext cx="41148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18B1A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2880360"/>
            <a:ext cx="1389888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3" y="3313459"/>
            <a:ext cx="1289304" cy="91717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Map models, DAX, visuals, security and UX.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45352" y="4315968"/>
            <a:ext cx="1389888" cy="0"/>
          </a:xfrm>
          <a:prstGeom prst="line">
            <a:avLst/>
          </a:prstGeom>
          <a:ln w="12700">
            <a:solidFill>
              <a:srgbClr val="3A4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75808" y="4572648"/>
            <a:ext cx="1719072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1000" b="1">
                <a:solidFill>
                  <a:srgbClr val="ABBACB"/>
                </a:solidFill>
                <a:latin typeface="Aptos"/>
              </a:defRPr>
            </a:pPr>
            <a:r>
              <a:rPr sz="1200" dirty="0"/>
              <a:t>How do we rebuild it?</a:t>
            </a:r>
          </a:p>
        </p:txBody>
      </p:sp>
      <p:sp>
        <p:nvSpPr>
          <p:cNvPr id="43" name="Chevron 42"/>
          <p:cNvSpPr/>
          <p:nvPr/>
        </p:nvSpPr>
        <p:spPr>
          <a:xfrm>
            <a:off x="7508920" y="3566160"/>
            <a:ext cx="363846" cy="365750"/>
          </a:xfrm>
          <a:prstGeom prst="chevron">
            <a:avLst/>
          </a:prstGeom>
          <a:solidFill>
            <a:srgbClr val="52687E"/>
          </a:solidFill>
          <a:ln>
            <a:solidFill>
              <a:srgbClr val="52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909560" y="2331720"/>
            <a:ext cx="1719072" cy="28803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74152" y="2542032"/>
            <a:ext cx="41148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18B1A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4152" y="2880360"/>
            <a:ext cx="1389888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4153" y="3290596"/>
            <a:ext cx="1233134" cy="91717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Data, metrics, behavior, security, performance.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074152" y="4315968"/>
            <a:ext cx="1389888" cy="0"/>
          </a:xfrm>
          <a:prstGeom prst="line">
            <a:avLst/>
          </a:prstGeom>
          <a:ln w="12700">
            <a:solidFill>
              <a:srgbClr val="3A4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959471" y="4506298"/>
            <a:ext cx="1644777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1000" b="1">
                <a:solidFill>
                  <a:srgbClr val="ABBACB"/>
                </a:solidFill>
                <a:latin typeface="Aptos"/>
              </a:defRPr>
            </a:pPr>
            <a:r>
              <a:rPr sz="1200" dirty="0"/>
              <a:t>Did we preserve intent?</a:t>
            </a:r>
          </a:p>
        </p:txBody>
      </p:sp>
      <p:sp>
        <p:nvSpPr>
          <p:cNvPr id="50" name="Chevron 49"/>
          <p:cNvSpPr/>
          <p:nvPr/>
        </p:nvSpPr>
        <p:spPr>
          <a:xfrm>
            <a:off x="9319041" y="3566159"/>
            <a:ext cx="371637" cy="342895"/>
          </a:xfrm>
          <a:prstGeom prst="chevron">
            <a:avLst/>
          </a:prstGeom>
          <a:solidFill>
            <a:srgbClr val="52687E"/>
          </a:solidFill>
          <a:ln>
            <a:solidFill>
              <a:srgbClr val="52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738360" y="2331720"/>
            <a:ext cx="1719072" cy="28803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902952" y="2542032"/>
            <a:ext cx="41148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18B1A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02952" y="2880360"/>
            <a:ext cx="1389888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CERTIFY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02952" y="3387431"/>
            <a:ext cx="1298448" cy="70173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Business sign-off + controlled release.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902952" y="4315968"/>
            <a:ext cx="1389888" cy="0"/>
          </a:xfrm>
          <a:prstGeom prst="line">
            <a:avLst/>
          </a:prstGeom>
          <a:ln w="12700">
            <a:solidFill>
              <a:srgbClr val="3A4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768840" y="4597100"/>
            <a:ext cx="1688592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1000" b="1">
                <a:solidFill>
                  <a:srgbClr val="ABBACB"/>
                </a:solidFill>
                <a:latin typeface="Aptos"/>
              </a:defRPr>
            </a:pPr>
            <a:r>
              <a:rPr sz="1200" dirty="0"/>
              <a:t>Can we trust it?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5575007"/>
            <a:ext cx="1114536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F6A623"/>
                </a:solidFill>
                <a:latin typeface="Aptos"/>
              </a:defRPr>
            </a:pPr>
            <a:r>
              <a:rPr sz="1400" dirty="0"/>
              <a:t>Key principle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55648" y="5571884"/>
            <a:ext cx="9038949" cy="2862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rPr dirty="0"/>
              <a:t>A migration factory is only scalable when the decision process is standardized before the build process.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12700">
            <a:solidFill>
              <a:srgbClr val="273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800" b="0">
                <a:solidFill>
                  <a:srgbClr val="ABBACB"/>
                </a:solidFill>
                <a:latin typeface="Aptos"/>
              </a:defRPr>
            </a:pPr>
            <a:r>
              <a:t>MicroStrategy → Power BI | Migration Strategy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800" b="0">
                <a:solidFill>
                  <a:srgbClr val="ABBAC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6692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18B1A5"/>
                </a:solidFill>
                <a:latin typeface="Aptos"/>
              </a:defRPr>
            </a:pPr>
            <a:r>
              <a:t>02 | MIGRATION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424160" cy="6583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Three execution lanes. One quality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114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1000" b="1">
                <a:solidFill>
                  <a:srgbClr val="ABBAC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3429000" cy="352044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3429000" cy="100584"/>
          </a:xfrm>
          <a:prstGeom prst="rect">
            <a:avLst/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71800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500" b="1">
                <a:solidFill>
                  <a:srgbClr val="18B1A5"/>
                </a:solidFill>
                <a:latin typeface="Aptos"/>
              </a:defRPr>
            </a:pPr>
            <a:r>
              <a:t>AUTOMATE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68868"/>
            <a:ext cx="2568652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ABBACB"/>
                </a:solidFill>
                <a:latin typeface="Aptos"/>
              </a:defRPr>
            </a:pPr>
            <a:r>
              <a:rPr sz="1400" dirty="0"/>
              <a:t>Fast • repeatable • deterministic</a:t>
            </a:r>
          </a:p>
        </p:txBody>
      </p:sp>
      <p:sp>
        <p:nvSpPr>
          <p:cNvPr id="9" name="Oval 8"/>
          <p:cNvSpPr/>
          <p:nvPr/>
        </p:nvSpPr>
        <p:spPr>
          <a:xfrm>
            <a:off x="795528" y="2770632"/>
            <a:ext cx="109728" cy="109728"/>
          </a:xfrm>
          <a:prstGeom prst="ellipse">
            <a:avLst/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717506"/>
            <a:ext cx="1697837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Metadata &amp; inventory</a:t>
            </a:r>
          </a:p>
        </p:txBody>
      </p:sp>
      <p:sp>
        <p:nvSpPr>
          <p:cNvPr id="11" name="Oval 10"/>
          <p:cNvSpPr/>
          <p:nvPr/>
        </p:nvSpPr>
        <p:spPr>
          <a:xfrm>
            <a:off x="795528" y="3255264"/>
            <a:ext cx="109728" cy="109728"/>
          </a:xfrm>
          <a:prstGeom prst="ellipse">
            <a:avLst/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3202138"/>
            <a:ext cx="1568699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Standard mappings</a:t>
            </a:r>
          </a:p>
        </p:txBody>
      </p:sp>
      <p:sp>
        <p:nvSpPr>
          <p:cNvPr id="13" name="Oval 12"/>
          <p:cNvSpPr/>
          <p:nvPr/>
        </p:nvSpPr>
        <p:spPr>
          <a:xfrm>
            <a:off x="795528" y="3739896"/>
            <a:ext cx="109728" cy="109728"/>
          </a:xfrm>
          <a:prstGeom prst="ellipse">
            <a:avLst/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3686770"/>
            <a:ext cx="1880836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Repetitive DAX patterns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" y="4224528"/>
            <a:ext cx="109728" cy="109728"/>
          </a:xfrm>
          <a:prstGeom prst="ellipse">
            <a:avLst/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4171402"/>
            <a:ext cx="1998304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Documentation +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1481328"/>
            <a:ext cx="3429000" cy="352044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25112" y="1481328"/>
            <a:ext cx="3429000" cy="100584"/>
          </a:xfrm>
          <a:prstGeom prst="rect">
            <a:avLst/>
          </a:prstGeom>
          <a:solidFill>
            <a:srgbClr val="4CC9F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1783080"/>
            <a:ext cx="2971800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500" b="1">
                <a:solidFill>
                  <a:srgbClr val="4CC9F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168868"/>
            <a:ext cx="3032946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ABBACB"/>
                </a:solidFill>
                <a:latin typeface="Aptos"/>
              </a:defRPr>
            </a:pPr>
            <a:r>
              <a:rPr sz="1400" dirty="0"/>
              <a:t>Business-critical • judgement required</a:t>
            </a:r>
          </a:p>
        </p:txBody>
      </p:sp>
      <p:sp>
        <p:nvSpPr>
          <p:cNvPr id="21" name="Oval 20"/>
          <p:cNvSpPr/>
          <p:nvPr/>
        </p:nvSpPr>
        <p:spPr>
          <a:xfrm>
            <a:off x="4526280" y="2770632"/>
            <a:ext cx="109728" cy="109728"/>
          </a:xfrm>
          <a:prstGeom prst="ellipse">
            <a:avLst/>
          </a:prstGeom>
          <a:solidFill>
            <a:srgbClr val="4CC9F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64024" y="2717506"/>
            <a:ext cx="1379993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400"/>
              <a:t>Complex metrics</a:t>
            </a:r>
          </a:p>
        </p:txBody>
      </p:sp>
      <p:sp>
        <p:nvSpPr>
          <p:cNvPr id="23" name="Oval 22"/>
          <p:cNvSpPr/>
          <p:nvPr/>
        </p:nvSpPr>
        <p:spPr>
          <a:xfrm>
            <a:off x="4526280" y="3255264"/>
            <a:ext cx="109728" cy="109728"/>
          </a:xfrm>
          <a:prstGeom prst="ellipse">
            <a:avLst/>
          </a:prstGeom>
          <a:solidFill>
            <a:srgbClr val="4CC9F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64024" y="3202138"/>
            <a:ext cx="1928861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400"/>
              <a:t>Prompt / filter behaviour</a:t>
            </a:r>
          </a:p>
        </p:txBody>
      </p:sp>
      <p:sp>
        <p:nvSpPr>
          <p:cNvPr id="25" name="Oval 24"/>
          <p:cNvSpPr/>
          <p:nvPr/>
        </p:nvSpPr>
        <p:spPr>
          <a:xfrm>
            <a:off x="4526280" y="3739896"/>
            <a:ext cx="109728" cy="109728"/>
          </a:xfrm>
          <a:prstGeom prst="ellipse">
            <a:avLst/>
          </a:prstGeom>
          <a:solidFill>
            <a:srgbClr val="4CC9F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64024" y="3686770"/>
            <a:ext cx="1617943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400"/>
              <a:t>Aggregation choices</a:t>
            </a:r>
          </a:p>
        </p:txBody>
      </p:sp>
      <p:sp>
        <p:nvSpPr>
          <p:cNvPr id="27" name="Oval 26"/>
          <p:cNvSpPr/>
          <p:nvPr/>
        </p:nvSpPr>
        <p:spPr>
          <a:xfrm>
            <a:off x="4526280" y="4224528"/>
            <a:ext cx="109728" cy="109728"/>
          </a:xfrm>
          <a:prstGeom prst="ellipse">
            <a:avLst/>
          </a:prstGeom>
          <a:solidFill>
            <a:srgbClr val="4CC9F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64024" y="4171402"/>
            <a:ext cx="1493294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400"/>
              <a:t>Security mappings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5864" y="1481328"/>
            <a:ext cx="3429000" cy="352044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55864" y="1481328"/>
            <a:ext cx="3429000" cy="100584"/>
          </a:xfrm>
          <a:prstGeom prst="rect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38744" y="1783080"/>
            <a:ext cx="2971800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500" b="1">
                <a:solidFill>
                  <a:srgbClr val="F6A623"/>
                </a:solidFill>
                <a:latin typeface="Aptos"/>
              </a:defRPr>
            </a:pPr>
            <a:r>
              <a:t>HAND-BUILD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2168868"/>
            <a:ext cx="2817694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ABBACB"/>
                </a:solidFill>
                <a:latin typeface="Aptos"/>
              </a:defRPr>
            </a:pPr>
            <a:r>
              <a:rPr sz="1400" dirty="0"/>
              <a:t>Exceptional • ambiguous • high-risk</a:t>
            </a:r>
          </a:p>
        </p:txBody>
      </p:sp>
      <p:sp>
        <p:nvSpPr>
          <p:cNvPr id="33" name="Oval 32"/>
          <p:cNvSpPr/>
          <p:nvPr/>
        </p:nvSpPr>
        <p:spPr>
          <a:xfrm>
            <a:off x="8257032" y="2770632"/>
            <a:ext cx="109728" cy="109728"/>
          </a:xfrm>
          <a:prstGeom prst="ellipse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94776" y="2717506"/>
            <a:ext cx="1494705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400"/>
              <a:t>Unique MSTR logic</a:t>
            </a:r>
          </a:p>
        </p:txBody>
      </p:sp>
      <p:sp>
        <p:nvSpPr>
          <p:cNvPr id="35" name="Oval 34"/>
          <p:cNvSpPr/>
          <p:nvPr/>
        </p:nvSpPr>
        <p:spPr>
          <a:xfrm>
            <a:off x="8257032" y="3255264"/>
            <a:ext cx="109728" cy="109728"/>
          </a:xfrm>
          <a:prstGeom prst="ellipse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94776" y="3202138"/>
            <a:ext cx="1746119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400"/>
              <a:t>Complex DAX / model</a:t>
            </a:r>
          </a:p>
        </p:txBody>
      </p:sp>
      <p:sp>
        <p:nvSpPr>
          <p:cNvPr id="37" name="Oval 36"/>
          <p:cNvSpPr/>
          <p:nvPr/>
        </p:nvSpPr>
        <p:spPr>
          <a:xfrm>
            <a:off x="8257032" y="3739896"/>
            <a:ext cx="109728" cy="109728"/>
          </a:xfrm>
          <a:prstGeom prst="ellipse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94776" y="3686770"/>
            <a:ext cx="974562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400"/>
              <a:t>UX redesign</a:t>
            </a:r>
          </a:p>
        </p:txBody>
      </p:sp>
      <p:sp>
        <p:nvSpPr>
          <p:cNvPr id="39" name="Oval 38"/>
          <p:cNvSpPr/>
          <p:nvPr/>
        </p:nvSpPr>
        <p:spPr>
          <a:xfrm>
            <a:off x="8257032" y="4224528"/>
            <a:ext cx="109728" cy="109728"/>
          </a:xfrm>
          <a:prstGeom prst="ellipse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94776" y="4171402"/>
            <a:ext cx="1860381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400"/>
              <a:t>Business-specific rules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230368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112C3D"/>
          </a:solidFill>
          <a:ln>
            <a:solidFill>
              <a:srgbClr val="224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3590" y="5419560"/>
            <a:ext cx="1220527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F6A623"/>
                </a:solidFill>
                <a:latin typeface="Aptos"/>
              </a:defRPr>
            </a:pPr>
            <a:r>
              <a:rPr sz="1400" dirty="0"/>
              <a:t>QUALITY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5407292"/>
            <a:ext cx="6991979" cy="2862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rPr dirty="0"/>
              <a:t>No report moves to release until semantics + security + behavior are reconciled.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032207"/>
            <a:ext cx="3996350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ABBACB"/>
                </a:solidFill>
                <a:latin typeface="Aptos"/>
              </a:defRPr>
            </a:pPr>
            <a:r>
              <a:rPr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Human-in-the-loop is a control — not a bottleneck.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12700">
            <a:solidFill>
              <a:srgbClr val="273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800" b="0">
                <a:solidFill>
                  <a:srgbClr val="ABBACB"/>
                </a:solidFill>
                <a:latin typeface="Aptos"/>
              </a:defRPr>
            </a:pPr>
            <a:r>
              <a:t>MicroStrategy → Power BI | Migration Strategy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800" b="0">
                <a:solidFill>
                  <a:srgbClr val="ABBAC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6692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18B1A5"/>
                </a:solidFill>
                <a:latin typeface="Aptos"/>
              </a:defRPr>
            </a:pPr>
            <a:r>
              <a:t>03 | 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424160" cy="6583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Build an evidence trail from MSTR intent to Power BI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114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1000" b="1">
                <a:solidFill>
                  <a:srgbClr val="ABBAC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1728216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t>MSTR 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446" y="2301800"/>
            <a:ext cx="1793885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200" dirty="0"/>
              <a:t>Reports • dossiers • metrics</a:t>
            </a:r>
          </a:p>
        </p:txBody>
      </p:sp>
      <p:sp>
        <p:nvSpPr>
          <p:cNvPr id="8" name="Chevron 7"/>
          <p:cNvSpPr/>
          <p:nvPr/>
        </p:nvSpPr>
        <p:spPr>
          <a:xfrm>
            <a:off x="2587751" y="2212848"/>
            <a:ext cx="146304" cy="320040"/>
          </a:xfrm>
          <a:prstGeom prst="chevron">
            <a:avLst/>
          </a:prstGeom>
          <a:solidFill>
            <a:srgbClr val="52687E"/>
          </a:solidFill>
          <a:ln>
            <a:solidFill>
              <a:srgbClr val="52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61488" y="182880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993392"/>
            <a:ext cx="1728216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100" b="1">
                <a:solidFill>
                  <a:srgbClr val="4CC9F0"/>
                </a:solidFill>
                <a:latin typeface="Aptos"/>
              </a:defRPr>
            </a:pPr>
            <a:r>
              <a:t>ASSESSMENT +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2296379"/>
            <a:ext cx="1636776" cy="42153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200" dirty="0"/>
              <a:t>Inventory • complexity • mappings</a:t>
            </a:r>
          </a:p>
        </p:txBody>
      </p:sp>
      <p:sp>
        <p:nvSpPr>
          <p:cNvPr id="12" name="Chevron 11"/>
          <p:cNvSpPr/>
          <p:nvPr/>
        </p:nvSpPr>
        <p:spPr>
          <a:xfrm>
            <a:off x="4754880" y="2212848"/>
            <a:ext cx="146304" cy="320040"/>
          </a:xfrm>
          <a:prstGeom prst="chevron">
            <a:avLst/>
          </a:prstGeom>
          <a:solidFill>
            <a:srgbClr val="52687E"/>
          </a:solidFill>
          <a:ln>
            <a:solidFill>
              <a:srgbClr val="52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28616" y="182880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47488" y="1993392"/>
            <a:ext cx="1956815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100" b="1">
                <a:solidFill>
                  <a:srgbClr val="18B1A5"/>
                </a:solidFill>
                <a:latin typeface="Aptos"/>
              </a:defRPr>
            </a:pPr>
            <a:r>
              <a:t>MIGRATION ACCELERATOR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3430" y="2308573"/>
            <a:ext cx="1556348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200" dirty="0"/>
              <a:t>Templates • rules • reusable patterns</a:t>
            </a:r>
          </a:p>
        </p:txBody>
      </p:sp>
      <p:sp>
        <p:nvSpPr>
          <p:cNvPr id="16" name="Chevron 15"/>
          <p:cNvSpPr/>
          <p:nvPr/>
        </p:nvSpPr>
        <p:spPr>
          <a:xfrm>
            <a:off x="7150607" y="2212848"/>
            <a:ext cx="146304" cy="320040"/>
          </a:xfrm>
          <a:prstGeom prst="chevron">
            <a:avLst/>
          </a:prstGeom>
          <a:solidFill>
            <a:srgbClr val="52687E"/>
          </a:solidFill>
          <a:ln>
            <a:solidFill>
              <a:srgbClr val="52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06056" y="182880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24928" y="1993392"/>
            <a:ext cx="1911095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100" b="1">
                <a:solidFill>
                  <a:srgbClr val="F6A623"/>
                </a:solidFill>
                <a:latin typeface="Aptos"/>
              </a:defRPr>
            </a:pPr>
            <a:r>
              <a:t>POWER BI / FABRIC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2674" y="2307151"/>
            <a:ext cx="1568788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200" dirty="0"/>
              <a:t>Semantic model • DAX • UX • security</a:t>
            </a:r>
          </a:p>
        </p:txBody>
      </p:sp>
      <p:sp>
        <p:nvSpPr>
          <p:cNvPr id="20" name="Chevron 19"/>
          <p:cNvSpPr/>
          <p:nvPr/>
        </p:nvSpPr>
        <p:spPr>
          <a:xfrm>
            <a:off x="9482328" y="2212848"/>
            <a:ext cx="146304" cy="320040"/>
          </a:xfrm>
          <a:prstGeom prst="chevron">
            <a:avLst/>
          </a:prstGeom>
          <a:solidFill>
            <a:srgbClr val="52687E"/>
          </a:solidFill>
          <a:ln>
            <a:solidFill>
              <a:srgbClr val="52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37776" y="1828800"/>
            <a:ext cx="1938528" cy="10515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56648" y="1993392"/>
            <a:ext cx="1700784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t>VALIDATION + CERTIFICATION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9540" y="2309853"/>
            <a:ext cx="1318734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200" dirty="0"/>
              <a:t>Reconcile • test • sign-off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3657600"/>
            <a:ext cx="10104120" cy="1188720"/>
          </a:xfrm>
          <a:prstGeom prst="roundRect">
            <a:avLst>
              <a:gd name="adj" fmla="val 12000"/>
            </a:avLst>
          </a:prstGeom>
          <a:solidFill>
            <a:srgbClr val="112C3D"/>
          </a:solidFill>
          <a:ln>
            <a:solidFill>
              <a:srgbClr val="224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98448" y="3875895"/>
            <a:ext cx="2119491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F6A623"/>
                </a:solidFill>
                <a:latin typeface="Aptos"/>
              </a:defRPr>
            </a:pPr>
            <a:r>
              <a:rPr sz="1200" dirty="0"/>
              <a:t>DECISION + EVIDENCE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3822191"/>
            <a:ext cx="1664208" cy="292608"/>
          </a:xfrm>
          <a:prstGeom prst="roundRect">
            <a:avLst>
              <a:gd name="adj" fmla="val 12000"/>
            </a:avLst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53090" y="3862833"/>
            <a:ext cx="1381790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900" b="1">
                <a:solidFill>
                  <a:srgbClr val="0D1827"/>
                </a:solidFill>
                <a:latin typeface="Aptos"/>
              </a:defRPr>
            </a:pPr>
            <a:r>
              <a:rPr sz="1200" dirty="0"/>
              <a:t>Mapping catalogue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3822191"/>
            <a:ext cx="1664208" cy="292608"/>
          </a:xfrm>
          <a:prstGeom prst="roundRect">
            <a:avLst>
              <a:gd name="adj" fmla="val 12000"/>
            </a:avLst>
          </a:prstGeom>
          <a:solidFill>
            <a:srgbClr val="4CC9F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04515" y="3862833"/>
            <a:ext cx="919419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900" b="1">
                <a:solidFill>
                  <a:srgbClr val="0D1827"/>
                </a:solidFill>
                <a:latin typeface="Aptos"/>
              </a:defRPr>
            </a:pPr>
            <a:r>
              <a:rPr sz="1200" dirty="0"/>
              <a:t>Decision 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3822191"/>
            <a:ext cx="1664208" cy="292608"/>
          </a:xfrm>
          <a:prstGeom prst="roundRect">
            <a:avLst>
              <a:gd name="adj" fmla="val 12000"/>
            </a:avLst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43616" y="3862833"/>
            <a:ext cx="1281698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900" b="1">
                <a:solidFill>
                  <a:srgbClr val="0D1827"/>
                </a:solidFill>
                <a:latin typeface="Aptos"/>
              </a:defRPr>
            </a:pPr>
            <a:r>
              <a:rPr sz="1200" dirty="0"/>
              <a:t>Validation results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72600" y="3822191"/>
            <a:ext cx="1664208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73474" y="3862833"/>
            <a:ext cx="1262461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900" b="1">
                <a:solidFill>
                  <a:srgbClr val="0D1827"/>
                </a:solidFill>
                <a:latin typeface="Aptos"/>
              </a:defRPr>
            </a:pPr>
            <a:r>
              <a:rPr sz="1200" dirty="0"/>
              <a:t>Business sign-off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320606"/>
            <a:ext cx="6577122" cy="30162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0">
                <a:solidFill>
                  <a:srgbClr val="E9EFF5"/>
                </a:solidFill>
                <a:latin typeface="Aptos"/>
              </a:defRPr>
            </a:pPr>
            <a:r>
              <a:rPr sz="1600" dirty="0"/>
              <a:t>This makes exceptions visible, auditable and repeatable across the estate.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61488" y="5257800"/>
            <a:ext cx="6611112" cy="658339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5E6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63401" y="5466448"/>
            <a:ext cx="1551002" cy="20928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Aptos"/>
              </a:defRPr>
            </a:pPr>
            <a:r>
              <a:rPr dirty="0"/>
              <a:t>HUMAN APPROVAL GATE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4840311" y="5429358"/>
            <a:ext cx="3837782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1000" b="0">
                <a:solidFill>
                  <a:srgbClr val="ABBACB"/>
                </a:solidFill>
                <a:latin typeface="Aptos"/>
              </a:defRPr>
            </a:pPr>
            <a:r>
              <a:rPr sz="1200" dirty="0"/>
              <a:t>Complex metrics • security • </a:t>
            </a:r>
            <a:r>
              <a:rPr sz="1400" dirty="0"/>
              <a:t>business-critical</a:t>
            </a:r>
            <a:r>
              <a:rPr sz="1200" dirty="0"/>
              <a:t> outputs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12700">
            <a:solidFill>
              <a:srgbClr val="273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800" b="0">
                <a:solidFill>
                  <a:srgbClr val="ABBACB"/>
                </a:solidFill>
                <a:latin typeface="Aptos"/>
              </a:defRPr>
            </a:pPr>
            <a:r>
              <a:t>MicroStrategy → Power BI | Migration Strategy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800" b="0">
                <a:solidFill>
                  <a:srgbClr val="ABBAC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6692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18B1A5"/>
                </a:solidFill>
                <a:latin typeface="Aptos"/>
              </a:defRPr>
            </a:pPr>
            <a:r>
              <a:t>04 | REPORT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424160" cy="6583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Preserve intent — redesign mechanics where Power BI works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114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1000" b="1">
                <a:solidFill>
                  <a:srgbClr val="ABBAC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3429000" cy="42519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773936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57200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200" b="1">
                <a:solidFill>
                  <a:srgbClr val="0D1827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783080"/>
            <a:ext cx="23774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REGIONAL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297180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18B1A5"/>
                </a:solidFill>
                <a:latin typeface="Aptos"/>
              </a:defRPr>
            </a:pPr>
            <a:r>
              <a:t>Matrix → DAX + star 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2788920"/>
            <a:ext cx="475488" cy="256032"/>
          </a:xfrm>
          <a:prstGeom prst="rect">
            <a:avLst/>
          </a:prstGeom>
          <a:solidFill>
            <a:srgbClr val="213241"/>
          </a:solidFill>
          <a:ln>
            <a:solidFill>
              <a:srgbClr val="21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44168" y="2788920"/>
            <a:ext cx="475488" cy="256032"/>
          </a:xfrm>
          <a:prstGeom prst="rect">
            <a:avLst/>
          </a:prstGeom>
          <a:solidFill>
            <a:srgbClr val="213249"/>
          </a:solidFill>
          <a:ln>
            <a:solidFill>
              <a:srgbClr val="21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74519" y="2788920"/>
            <a:ext cx="475488" cy="256032"/>
          </a:xfrm>
          <a:prstGeom prst="rect">
            <a:avLst/>
          </a:prstGeom>
          <a:solidFill>
            <a:srgbClr val="213251"/>
          </a:solidFill>
          <a:ln>
            <a:solidFill>
              <a:srgbClr val="213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04872" y="2788920"/>
            <a:ext cx="475488" cy="256032"/>
          </a:xfrm>
          <a:prstGeom prst="rect">
            <a:avLst/>
          </a:prstGeom>
          <a:solidFill>
            <a:srgbClr val="213259"/>
          </a:solidFill>
          <a:ln>
            <a:solidFill>
              <a:srgbClr val="213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" y="3099815"/>
            <a:ext cx="475488" cy="256032"/>
          </a:xfrm>
          <a:prstGeom prst="rect">
            <a:avLst/>
          </a:prstGeom>
          <a:solidFill>
            <a:srgbClr val="293A41"/>
          </a:solidFill>
          <a:ln>
            <a:solidFill>
              <a:srgbClr val="293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44168" y="3099815"/>
            <a:ext cx="475488" cy="256032"/>
          </a:xfrm>
          <a:prstGeom prst="rect">
            <a:avLst/>
          </a:prstGeom>
          <a:solidFill>
            <a:srgbClr val="293A49"/>
          </a:solidFill>
          <a:ln>
            <a:solidFill>
              <a:srgbClr val="293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74519" y="3099815"/>
            <a:ext cx="475488" cy="256032"/>
          </a:xfrm>
          <a:prstGeom prst="rect">
            <a:avLst/>
          </a:prstGeom>
          <a:solidFill>
            <a:srgbClr val="293A51"/>
          </a:solidFill>
          <a:ln>
            <a:solidFill>
              <a:srgbClr val="293A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04872" y="3099815"/>
            <a:ext cx="475488" cy="256032"/>
          </a:xfrm>
          <a:prstGeom prst="rect">
            <a:avLst/>
          </a:prstGeom>
          <a:solidFill>
            <a:srgbClr val="293A59"/>
          </a:solidFill>
          <a:ln>
            <a:solidFill>
              <a:srgbClr val="29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" y="3410712"/>
            <a:ext cx="475488" cy="256032"/>
          </a:xfrm>
          <a:prstGeom prst="rect">
            <a:avLst/>
          </a:prstGeom>
          <a:solidFill>
            <a:srgbClr val="314241"/>
          </a:solidFill>
          <a:ln>
            <a:solidFill>
              <a:srgbClr val="314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44168" y="3410712"/>
            <a:ext cx="475488" cy="256032"/>
          </a:xfrm>
          <a:prstGeom prst="rect">
            <a:avLst/>
          </a:prstGeom>
          <a:solidFill>
            <a:srgbClr val="314249"/>
          </a:solidFill>
          <a:ln>
            <a:solidFill>
              <a:srgbClr val="314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74519" y="3410712"/>
            <a:ext cx="475488" cy="256032"/>
          </a:xfrm>
          <a:prstGeom prst="rect">
            <a:avLst/>
          </a:prstGeom>
          <a:solidFill>
            <a:srgbClr val="314251"/>
          </a:solidFill>
          <a:ln>
            <a:solidFill>
              <a:srgbClr val="314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04872" y="3410712"/>
            <a:ext cx="475488" cy="256032"/>
          </a:xfrm>
          <a:prstGeom prst="rect">
            <a:avLst/>
          </a:prstGeom>
          <a:solidFill>
            <a:srgbClr val="314259"/>
          </a:solidFill>
          <a:ln>
            <a:solidFill>
              <a:srgbClr val="31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1728" y="3852673"/>
            <a:ext cx="310751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0">
                <a:solidFill>
                  <a:srgbClr val="ABBACB"/>
                </a:solidFill>
                <a:latin typeface="Aptos"/>
              </a:defRPr>
            </a:pPr>
            <a:r>
              <a:rPr sz="1100" dirty="0"/>
              <a:t>↳ matrix semantics become model + DAX 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65765"/>
            <a:ext cx="45454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18B1A5"/>
                </a:solidFill>
                <a:latin typeface="Aptos"/>
              </a:defRPr>
            </a:pPr>
            <a:r>
              <a:rPr sz="1100" dirty="0"/>
              <a:t>Visual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4762715"/>
            <a:ext cx="165519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100" dirty="0"/>
              <a:t>Region / Category ×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76661"/>
            <a:ext cx="39523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18B1A5"/>
                </a:solidFill>
                <a:latin typeface="Aptos"/>
              </a:defRPr>
            </a:pPr>
            <a:r>
              <a:rPr sz="1100"/>
              <a:t>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2" y="5073611"/>
            <a:ext cx="171290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100" dirty="0"/>
              <a:t>Revenue • Margin % • Units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87557"/>
            <a:ext cx="44172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18B1A5"/>
                </a:solidFill>
                <a:latin typeface="Aptos"/>
              </a:defRPr>
            </a:pPr>
            <a:r>
              <a:rPr sz="1100"/>
              <a:t>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9032" y="5384507"/>
            <a:ext cx="190366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100"/>
              <a:t>Subtotals + conditional format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5112" y="1554480"/>
            <a:ext cx="3429000" cy="42519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507992" y="1773936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4CC9F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07992" y="1783080"/>
            <a:ext cx="457200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200" b="1">
                <a:solidFill>
                  <a:srgbClr val="0D1827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23774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STORE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2240280"/>
            <a:ext cx="297180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4CC9F0"/>
                </a:solidFill>
                <a:latin typeface="Aptos"/>
              </a:defRPr>
            </a:pPr>
            <a:r>
              <a:t>Dashboard + drill path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2788920"/>
            <a:ext cx="804672" cy="502920"/>
          </a:xfrm>
          <a:prstGeom prst="roundRect">
            <a:avLst>
              <a:gd name="adj" fmla="val 12000"/>
            </a:avLst>
          </a:prstGeom>
          <a:solidFill>
            <a:srgbClr val="203446"/>
          </a:solidFill>
          <a:ln>
            <a:solidFill>
              <a:srgbClr val="30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26280" y="2907792"/>
            <a:ext cx="804672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800" b="1">
                <a:solidFill>
                  <a:srgbClr val="E9EFF5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58968" y="2788920"/>
            <a:ext cx="804672" cy="502920"/>
          </a:xfrm>
          <a:prstGeom prst="roundRect">
            <a:avLst>
              <a:gd name="adj" fmla="val 12000"/>
            </a:avLst>
          </a:prstGeom>
          <a:solidFill>
            <a:srgbClr val="203446"/>
          </a:solidFill>
          <a:ln>
            <a:solidFill>
              <a:srgbClr val="30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58968" y="2907792"/>
            <a:ext cx="804672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800" b="1">
                <a:solidFill>
                  <a:srgbClr val="E9EFF5"/>
                </a:solidFill>
                <a:latin typeface="Aptos"/>
              </a:defRPr>
            </a:pPr>
            <a:r>
              <a:t>Footfall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91656" y="2788920"/>
            <a:ext cx="804672" cy="502920"/>
          </a:xfrm>
          <a:prstGeom prst="roundRect">
            <a:avLst>
              <a:gd name="adj" fmla="val 12000"/>
            </a:avLst>
          </a:prstGeom>
          <a:solidFill>
            <a:srgbClr val="203446"/>
          </a:solidFill>
          <a:ln>
            <a:solidFill>
              <a:srgbClr val="30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91656" y="2907792"/>
            <a:ext cx="804672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800" b="1">
                <a:solidFill>
                  <a:srgbClr val="E9EFF5"/>
                </a:solidFill>
                <a:latin typeface="Aptos"/>
              </a:defRPr>
            </a:pPr>
            <a:r>
              <a:t>Stock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99432" y="3755574"/>
            <a:ext cx="2560320" cy="0"/>
          </a:xfrm>
          <a:prstGeom prst="line">
            <a:avLst/>
          </a:prstGeom>
          <a:ln w="12700">
            <a:solidFill>
              <a:srgbClr val="526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782312" y="3526974"/>
            <a:ext cx="731520" cy="393191"/>
          </a:xfrm>
          <a:prstGeom prst="line">
            <a:avLst/>
          </a:prstGeom>
          <a:ln w="25400">
            <a:solidFill>
              <a:srgbClr val="18B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513832" y="3526974"/>
            <a:ext cx="640080" cy="320039"/>
          </a:xfrm>
          <a:prstGeom prst="line">
            <a:avLst/>
          </a:prstGeom>
          <a:ln w="25400">
            <a:solidFill>
              <a:srgbClr val="18B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153912" y="3389814"/>
            <a:ext cx="822960" cy="457199"/>
          </a:xfrm>
          <a:prstGeom prst="line">
            <a:avLst/>
          </a:prstGeom>
          <a:ln w="25400">
            <a:solidFill>
              <a:srgbClr val="18B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765766" y="4061677"/>
            <a:ext cx="226594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0">
                <a:solidFill>
                  <a:srgbClr val="ABBACB"/>
                </a:solidFill>
                <a:latin typeface="Aptos"/>
              </a:defRPr>
            </a:pPr>
            <a:r>
              <a:rPr sz="1100" dirty="0"/>
              <a:t>↳ slicer context carries across pages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7992" y="4711336"/>
            <a:ext cx="45454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4CC9F0"/>
                </a:solidFill>
                <a:latin typeface="Aptos"/>
              </a:defRPr>
            </a:pPr>
            <a:r>
              <a:rPr sz="1100" dirty="0"/>
              <a:t>Visual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784" y="4708286"/>
            <a:ext cx="115025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100" dirty="0"/>
              <a:t>KPI cards + trends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7992" y="5022232"/>
            <a:ext cx="39523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4CC9F0"/>
                </a:solidFill>
                <a:latin typeface="Aptos"/>
              </a:defRPr>
            </a:pPr>
            <a:r>
              <a:rPr sz="1100" dirty="0"/>
              <a:t>Logic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784" y="5019182"/>
            <a:ext cx="152214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100" dirty="0"/>
              <a:t>Region slicer → all pages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07992" y="5333128"/>
            <a:ext cx="44172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4CC9F0"/>
                </a:solidFill>
                <a:latin typeface="Aptos"/>
              </a:defRPr>
            </a:pPr>
            <a:r>
              <a:rPr sz="1100"/>
              <a:t>Focus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9784" y="5330078"/>
            <a:ext cx="181549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100" dirty="0"/>
              <a:t>Region → Store → Department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55864" y="1554480"/>
            <a:ext cx="3429000" cy="425196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238744" y="1773936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38744" y="1783080"/>
            <a:ext cx="457200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200" b="1">
                <a:solidFill>
                  <a:srgbClr val="0D1827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05672" y="1783080"/>
            <a:ext cx="23774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CATEGORY MANAGER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8744" y="2240280"/>
            <a:ext cx="297180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F6A623"/>
                </a:solidFill>
                <a:latin typeface="Aptos"/>
              </a:defRPr>
            </a:pPr>
            <a:r>
              <a:t>Security + Top 10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57032" y="2683544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57032" y="2703573"/>
            <a:ext cx="548640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900" b="1">
                <a:solidFill>
                  <a:srgbClr val="0D1827"/>
                </a:solidFill>
                <a:latin typeface="Aptos"/>
              </a:defRPr>
            </a:pPr>
            <a:r>
              <a:rPr dirty="0"/>
              <a:t>RLS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78824" y="2683546"/>
            <a:ext cx="731520" cy="292608"/>
          </a:xfrm>
          <a:prstGeom prst="roundRect">
            <a:avLst>
              <a:gd name="adj" fmla="val 12000"/>
            </a:avLst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78824" y="2703577"/>
            <a:ext cx="731520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900" b="1">
                <a:solidFill>
                  <a:srgbClr val="0D1827"/>
                </a:solidFill>
                <a:latin typeface="Aptos"/>
              </a:defRPr>
            </a:pPr>
            <a:r>
              <a:rPr dirty="0"/>
              <a:t>TOP 10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84464" y="3310128"/>
            <a:ext cx="2697480" cy="91440"/>
          </a:xfrm>
          <a:prstGeom prst="rect">
            <a:avLst/>
          </a:prstGeom>
          <a:solidFill>
            <a:srgbClr val="203446"/>
          </a:solidFill>
          <a:ln>
            <a:solidFill>
              <a:srgbClr val="20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284464" y="3551790"/>
            <a:ext cx="2551176" cy="91440"/>
          </a:xfrm>
          <a:prstGeom prst="rect">
            <a:avLst/>
          </a:prstGeom>
          <a:solidFill>
            <a:srgbClr val="203446"/>
          </a:solidFill>
          <a:ln>
            <a:solidFill>
              <a:srgbClr val="20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284464" y="3815224"/>
            <a:ext cx="2404872" cy="91440"/>
          </a:xfrm>
          <a:prstGeom prst="rect">
            <a:avLst/>
          </a:prstGeom>
          <a:solidFill>
            <a:srgbClr val="203446"/>
          </a:solidFill>
          <a:ln>
            <a:solidFill>
              <a:srgbClr val="20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284464" y="4078657"/>
            <a:ext cx="2258568" cy="91440"/>
          </a:xfrm>
          <a:prstGeom prst="rect">
            <a:avLst/>
          </a:prstGeom>
          <a:solidFill>
            <a:srgbClr val="203446"/>
          </a:solidFill>
          <a:ln>
            <a:solidFill>
              <a:srgbClr val="20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87660" y="4301157"/>
            <a:ext cx="245189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0">
                <a:solidFill>
                  <a:srgbClr val="ABBACB"/>
                </a:solidFill>
                <a:latin typeface="Aptos"/>
              </a:defRPr>
            </a:pPr>
            <a:r>
              <a:rPr sz="1100" dirty="0"/>
              <a:t>↳ security belongs in the semantic layer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38744" y="4678681"/>
            <a:ext cx="45454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F6A623"/>
                </a:solidFill>
                <a:latin typeface="Aptos"/>
              </a:defRPr>
            </a:pPr>
            <a:r>
              <a:rPr sz="1100" dirty="0"/>
              <a:t>Visual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60536" y="4664745"/>
            <a:ext cx="159107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100" dirty="0"/>
              <a:t>Supplier / Product / Sales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38744" y="4989577"/>
            <a:ext cx="39523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F6A623"/>
                </a:solidFill>
                <a:latin typeface="Aptos"/>
              </a:defRPr>
            </a:pPr>
            <a:r>
              <a:rPr sz="1100"/>
              <a:t>Logic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0536" y="4975641"/>
            <a:ext cx="149970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100" dirty="0"/>
              <a:t>RLS from logged-in user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38744" y="5300473"/>
            <a:ext cx="44172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F6A623"/>
                </a:solidFill>
                <a:latin typeface="Aptos"/>
              </a:defRPr>
            </a:pPr>
            <a:r>
              <a:rPr sz="1100"/>
              <a:t>Focus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0536" y="5286537"/>
            <a:ext cx="237494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0">
                <a:solidFill>
                  <a:srgbClr val="E9EFF5"/>
                </a:solidFill>
                <a:latin typeface="Aptos"/>
              </a:defRPr>
            </a:pPr>
            <a:r>
              <a:rPr sz="1100" dirty="0"/>
              <a:t>Date range + Top 10 within visible data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60768" y="5984814"/>
            <a:ext cx="6148543" cy="30162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dirty="0"/>
              <a:t>The visual is the easy part. The </a:t>
            </a:r>
            <a:r>
              <a:rPr sz="1600" dirty="0"/>
              <a:t>migration</a:t>
            </a:r>
            <a:r>
              <a:rPr dirty="0"/>
              <a:t> risk sits in semantics, context and security.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12700">
            <a:solidFill>
              <a:srgbClr val="273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800" b="0">
                <a:solidFill>
                  <a:srgbClr val="ABBACB"/>
                </a:solidFill>
                <a:latin typeface="Aptos"/>
              </a:defRPr>
            </a:pPr>
            <a:r>
              <a:t>MicroStrategy → Power BI | Migration Strategy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800" b="0">
                <a:solidFill>
                  <a:srgbClr val="ABBAC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6692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18B1A5"/>
                </a:solidFill>
                <a:latin typeface="Aptos"/>
              </a:defRPr>
            </a:pPr>
            <a:r>
              <a:t>05 | VALIDATION &amp; CUTOVER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424160" cy="6583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Validation is a release gate — not a test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114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1000" b="1">
                <a:solidFill>
                  <a:srgbClr val="ABBAC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36192"/>
            <a:ext cx="6995160" cy="603504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68096" y="1682495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18B1A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8608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rPr dirty="0"/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669431"/>
            <a:ext cx="2528256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Totals • row counts • aggregates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04288"/>
            <a:ext cx="6995160" cy="603504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450592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4CC9F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6704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rPr dirty="0"/>
              <a:t>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437527"/>
            <a:ext cx="3280257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Revenue • Margin % • Units • calculations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072384"/>
            <a:ext cx="6995160" cy="603504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321868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F6A6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34800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rPr dirty="0"/>
              <a:t>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205623"/>
            <a:ext cx="2716641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Filters • dates • Top 10 • drill paths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40480"/>
            <a:ext cx="6995160" cy="603504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3986784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DE5D5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02896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rPr dirty="0"/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973719"/>
            <a:ext cx="1998047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User visibility • RLS / 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08576"/>
            <a:ext cx="6995160" cy="603504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" y="4754880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64BE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77099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rPr dirty="0"/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741815"/>
            <a:ext cx="3476721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Load time • concurrency • refresh behavior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1536191"/>
            <a:ext cx="3947160" cy="4035621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83879" y="1810512"/>
            <a:ext cx="13716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300" b="1">
                <a:solidFill>
                  <a:srgbClr val="F6A623"/>
                </a:solidFill>
                <a:latin typeface="Aptos"/>
              </a:defRPr>
            </a:pPr>
            <a:r>
              <a:rPr dirty="0"/>
              <a:t>CUTOVER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7677" y="2331720"/>
            <a:ext cx="292608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18B1A5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3151" y="2331720"/>
            <a:ext cx="1051560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Aptos"/>
              </a:defRPr>
            </a:pPr>
            <a:r>
              <a:rPr dirty="0"/>
              <a:t>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9758" y="2293113"/>
            <a:ext cx="2888163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880" b="0">
                <a:solidFill>
                  <a:srgbClr val="ABBACB"/>
                </a:solidFill>
                <a:latin typeface="Aptos"/>
              </a:defRPr>
            </a:pPr>
            <a:r>
              <a:rPr sz="1200" dirty="0"/>
              <a:t>Prove the pattern on representative reports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61235" y="2639131"/>
            <a:ext cx="0" cy="283465"/>
          </a:xfrm>
          <a:prstGeom prst="line">
            <a:avLst/>
          </a:prstGeom>
          <a:ln w="12700">
            <a:solidFill>
              <a:srgbClr val="3A4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18563" y="2999232"/>
            <a:ext cx="292608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18B1A5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3151" y="2999232"/>
            <a:ext cx="1051560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Aptos"/>
              </a:defRPr>
            </a:pPr>
            <a:r>
              <a:rPr dirty="0"/>
              <a:t>PARALLEL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9758" y="2960625"/>
            <a:ext cx="1757917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880" b="0">
                <a:solidFill>
                  <a:srgbClr val="ABBACB"/>
                </a:solidFill>
                <a:latin typeface="Aptos"/>
              </a:defRPr>
            </a:pPr>
            <a:r>
              <a:rPr sz="1200" dirty="0"/>
              <a:t>Reconcile critical outputs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61235" y="3306643"/>
            <a:ext cx="0" cy="283464"/>
          </a:xfrm>
          <a:prstGeom prst="line">
            <a:avLst/>
          </a:prstGeom>
          <a:ln w="12700">
            <a:solidFill>
              <a:srgbClr val="3A4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18563" y="3666744"/>
            <a:ext cx="292608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18B1A5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3151" y="3666744"/>
            <a:ext cx="1051560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Aptos"/>
              </a:defRPr>
            </a:pPr>
            <a:r>
              <a:t>RELEASE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9758" y="3628137"/>
            <a:ext cx="1933606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880" b="0">
                <a:solidFill>
                  <a:srgbClr val="ABBACB"/>
                </a:solidFill>
                <a:latin typeface="Aptos"/>
              </a:defRPr>
            </a:pPr>
            <a:r>
              <a:rPr sz="1200" dirty="0"/>
              <a:t>Controlled business sign-off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161235" y="3974156"/>
            <a:ext cx="0" cy="283464"/>
          </a:xfrm>
          <a:prstGeom prst="line">
            <a:avLst/>
          </a:prstGeom>
          <a:ln w="12700">
            <a:solidFill>
              <a:srgbClr val="3A4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107677" y="4334256"/>
            <a:ext cx="292608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18B1A5"/>
                </a:solidFill>
                <a:latin typeface="Aptos"/>
              </a:defRPr>
            </a:pPr>
            <a:r>
              <a:rPr dirty="0"/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3151" y="4334256"/>
            <a:ext cx="1051560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Aptos"/>
              </a:defRPr>
            </a:pPr>
            <a:r>
              <a:rPr dirty="0"/>
              <a:t>MONITOR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9758" y="4295649"/>
            <a:ext cx="2268891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880" b="0">
                <a:solidFill>
                  <a:srgbClr val="ABBACB"/>
                </a:solidFill>
                <a:latin typeface="Aptos"/>
              </a:defRPr>
            </a:pPr>
            <a:r>
              <a:rPr sz="1200" dirty="0"/>
              <a:t>Watch usage, refresh and defects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61235" y="4641668"/>
            <a:ext cx="0" cy="283464"/>
          </a:xfrm>
          <a:prstGeom prst="line">
            <a:avLst/>
          </a:prstGeom>
          <a:ln w="12700">
            <a:solidFill>
              <a:srgbClr val="3A4F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107677" y="5001768"/>
            <a:ext cx="292608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900" b="1">
                <a:solidFill>
                  <a:srgbClr val="18B1A5"/>
                </a:solidFill>
                <a:latin typeface="Aptos"/>
              </a:defRPr>
            </a:pPr>
            <a:r>
              <a:rPr dirty="0"/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3151" y="5001768"/>
            <a:ext cx="1051560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Aptos"/>
              </a:defRPr>
            </a:pPr>
            <a:r>
              <a:rPr dirty="0"/>
              <a:t>ROLLBACK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40644" y="4974047"/>
            <a:ext cx="2469907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880" b="0">
                <a:solidFill>
                  <a:srgbClr val="ABBACB"/>
                </a:solidFill>
                <a:latin typeface="Aptos"/>
              </a:defRPr>
            </a:pPr>
            <a:r>
              <a:rPr sz="1200" dirty="0"/>
              <a:t>Keep a safe exit path for critical gaps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767756"/>
            <a:ext cx="1176476" cy="30162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F6A623"/>
                </a:solidFill>
                <a:latin typeface="Aptos"/>
              </a:defRPr>
            </a:pPr>
            <a:r>
              <a:rPr sz="1600" dirty="0"/>
              <a:t>Exit criteria</a:t>
            </a:r>
            <a:r>
              <a:rPr lang="en-US" sz="1600" dirty="0"/>
              <a:t>:</a:t>
            </a:r>
            <a:endParaRPr sz="1600" dirty="0"/>
          </a:p>
        </p:txBody>
      </p:sp>
      <p:sp>
        <p:nvSpPr>
          <p:cNvPr id="47" name="TextBox 46"/>
          <p:cNvSpPr txBox="1"/>
          <p:nvPr/>
        </p:nvSpPr>
        <p:spPr>
          <a:xfrm>
            <a:off x="1750427" y="5787185"/>
            <a:ext cx="8937247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rPr sz="1400" dirty="0"/>
              <a:t>No material data discrepancy • Security validated • Performance acceptable </a:t>
            </a:r>
            <a:r>
              <a:rPr lang="en-US" sz="1400" dirty="0"/>
              <a:t> </a:t>
            </a:r>
            <a:r>
              <a:rPr sz="1400" dirty="0"/>
              <a:t>• Business sign-off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12700">
            <a:solidFill>
              <a:srgbClr val="273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800" b="0">
                <a:solidFill>
                  <a:srgbClr val="ABBACB"/>
                </a:solidFill>
                <a:latin typeface="Aptos"/>
              </a:defRPr>
            </a:pPr>
            <a:r>
              <a:t>MicroStrategy → Power BI | Migration 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800" b="0">
                <a:solidFill>
                  <a:srgbClr val="ABBAC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6692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18B1A5"/>
                </a:solidFill>
                <a:latin typeface="Aptos"/>
              </a:defRPr>
            </a:pPr>
            <a:r>
              <a:t>06 | SCALE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424160" cy="6583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Turn migration into a repeatable factory — not a report-by-report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114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1000" b="1">
                <a:solidFill>
                  <a:srgbClr val="ABBAC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5246" y="1540110"/>
            <a:ext cx="3429000" cy="306324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3429000" cy="100584"/>
          </a:xfrm>
          <a:prstGeom prst="rect">
            <a:avLst/>
          </a:prstGeom>
          <a:solidFill>
            <a:srgbClr val="4CC9F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56231"/>
            <a:ext cx="297180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300" b="1">
                <a:solidFill>
                  <a:srgbClr val="4CC9F0"/>
                </a:solidFill>
                <a:latin typeface="Aptos"/>
              </a:defRPr>
            </a:pPr>
            <a:r>
              <a:t>EXISTING TOOLING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145" y="2351748"/>
            <a:ext cx="2299990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000" b="0">
                <a:solidFill>
                  <a:srgbClr val="ABBACB"/>
                </a:solidFill>
                <a:latin typeface="Aptos"/>
              </a:defRPr>
            </a:pPr>
            <a:r>
              <a:rPr sz="1400" dirty="0"/>
              <a:t>Start with proven capabilities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90088"/>
            <a:ext cx="91440" cy="91440"/>
          </a:xfrm>
          <a:prstGeom prst="ellipse">
            <a:avLst/>
          </a:prstGeom>
          <a:solidFill>
            <a:srgbClr val="4CC9F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904307"/>
            <a:ext cx="1825051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 dirty="0"/>
              <a:t>Coverage &amp; conversion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4CC9F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3343219"/>
            <a:ext cx="1557221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/>
              <a:t>Supported patterns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67912"/>
            <a:ext cx="91440" cy="91440"/>
          </a:xfrm>
          <a:prstGeom prst="ellipse">
            <a:avLst/>
          </a:prstGeom>
          <a:solidFill>
            <a:srgbClr val="4CC9F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3782131"/>
            <a:ext cx="1466042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/>
              <a:t>Known exceptions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6884" y="1540110"/>
            <a:ext cx="3429000" cy="306324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5112" y="1572768"/>
            <a:ext cx="3429000" cy="100584"/>
          </a:xfrm>
          <a:prstGeom prst="rect">
            <a:avLst/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07992" y="1856231"/>
            <a:ext cx="297180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300" b="1">
                <a:solidFill>
                  <a:srgbClr val="18B1A5"/>
                </a:solidFill>
                <a:latin typeface="Aptos"/>
              </a:defRPr>
            </a:pPr>
            <a:r>
              <a:t>INTERNAL ACCELERATOR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5212" y="2351748"/>
            <a:ext cx="2537361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000" b="0">
                <a:solidFill>
                  <a:srgbClr val="ABBACB"/>
                </a:solidFill>
                <a:latin typeface="Aptos"/>
              </a:defRPr>
            </a:pPr>
            <a:r>
              <a:rPr sz="1400" dirty="0"/>
              <a:t>Build where repetition justifies it</a:t>
            </a:r>
          </a:p>
        </p:txBody>
      </p:sp>
      <p:sp>
        <p:nvSpPr>
          <p:cNvPr id="19" name="Oval 18"/>
          <p:cNvSpPr/>
          <p:nvPr/>
        </p:nvSpPr>
        <p:spPr>
          <a:xfrm>
            <a:off x="4645152" y="2990088"/>
            <a:ext cx="91440" cy="91440"/>
          </a:xfrm>
          <a:prstGeom prst="ellipse">
            <a:avLst/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6350" y="2904307"/>
            <a:ext cx="1813060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/>
              <a:t>Templates &amp; mappings</a:t>
            </a:r>
          </a:p>
        </p:txBody>
      </p:sp>
      <p:sp>
        <p:nvSpPr>
          <p:cNvPr id="21" name="Oval 20"/>
          <p:cNvSpPr/>
          <p:nvPr/>
        </p:nvSpPr>
        <p:spPr>
          <a:xfrm>
            <a:off x="4645152" y="3429000"/>
            <a:ext cx="91440" cy="91440"/>
          </a:xfrm>
          <a:prstGeom prst="ellipse">
            <a:avLst/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6350" y="3343219"/>
            <a:ext cx="1670586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/>
              <a:t>Reusable validations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4645152" y="3867912"/>
            <a:ext cx="91440" cy="91440"/>
          </a:xfrm>
          <a:prstGeom prst="ellipse">
            <a:avLst/>
          </a:prstGeom>
          <a:solidFill>
            <a:srgbClr val="18B1A5"/>
          </a:solidFill>
          <a:ln>
            <a:solidFill>
              <a:srgbClr val="18B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66350" y="3782131"/>
            <a:ext cx="1509580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/>
              <a:t>Migration reporting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1572768"/>
            <a:ext cx="3429000" cy="3063240"/>
          </a:xfrm>
          <a:prstGeom prst="roundRect">
            <a:avLst>
              <a:gd name="adj" fmla="val 12000"/>
            </a:avLst>
          </a:prstGeom>
          <a:solidFill>
            <a:srgbClr val="142336"/>
          </a:solidFill>
          <a:ln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55864" y="1572768"/>
            <a:ext cx="3429000" cy="100584"/>
          </a:xfrm>
          <a:prstGeom prst="rect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38744" y="1856231"/>
            <a:ext cx="297180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300" b="1">
                <a:solidFill>
                  <a:srgbClr val="F6A623"/>
                </a:solidFill>
                <a:latin typeface="Aptos"/>
              </a:defRPr>
            </a:pPr>
            <a:r>
              <a:t>HUMAN + BUSINESS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4225" y="2351748"/>
            <a:ext cx="2600841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000" b="0">
                <a:solidFill>
                  <a:srgbClr val="ABBACB"/>
                </a:solidFill>
                <a:latin typeface="Aptos"/>
              </a:defRPr>
            </a:pPr>
            <a:r>
              <a:rPr sz="1400" dirty="0"/>
              <a:t>Keep judgement where it matters</a:t>
            </a:r>
          </a:p>
        </p:txBody>
      </p:sp>
      <p:sp>
        <p:nvSpPr>
          <p:cNvPr id="29" name="Oval 28"/>
          <p:cNvSpPr/>
          <p:nvPr/>
        </p:nvSpPr>
        <p:spPr>
          <a:xfrm>
            <a:off x="8375904" y="2990088"/>
            <a:ext cx="91440" cy="91440"/>
          </a:xfrm>
          <a:prstGeom prst="ellipse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07988" y="2904307"/>
            <a:ext cx="1756956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/>
              <a:t>Semantic correctness</a:t>
            </a:r>
          </a:p>
        </p:txBody>
      </p:sp>
      <p:sp>
        <p:nvSpPr>
          <p:cNvPr id="31" name="Oval 30"/>
          <p:cNvSpPr/>
          <p:nvPr/>
        </p:nvSpPr>
        <p:spPr>
          <a:xfrm>
            <a:off x="8375904" y="3429000"/>
            <a:ext cx="91440" cy="91440"/>
          </a:xfrm>
          <a:prstGeom prst="ellipse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07988" y="3343219"/>
            <a:ext cx="1474058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/>
              <a:t>Security decisions</a:t>
            </a:r>
          </a:p>
        </p:txBody>
      </p:sp>
      <p:sp>
        <p:nvSpPr>
          <p:cNvPr id="33" name="Oval 32"/>
          <p:cNvSpPr/>
          <p:nvPr/>
        </p:nvSpPr>
        <p:spPr>
          <a:xfrm>
            <a:off x="8375904" y="3867912"/>
            <a:ext cx="91440" cy="91440"/>
          </a:xfrm>
          <a:prstGeom prst="ellipse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07988" y="3782131"/>
            <a:ext cx="1721818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0">
                <a:solidFill>
                  <a:srgbClr val="E9EFF5"/>
                </a:solidFill>
                <a:latin typeface="Aptos"/>
              </a:defRPr>
            </a:pPr>
            <a:r>
              <a:rPr sz="1400"/>
              <a:t>Business acceptance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474" y="4983480"/>
            <a:ext cx="10972800" cy="960120"/>
          </a:xfrm>
          <a:prstGeom prst="roundRect">
            <a:avLst>
              <a:gd name="adj" fmla="val 12000"/>
            </a:avLst>
          </a:prstGeom>
          <a:solidFill>
            <a:srgbClr val="112C3D"/>
          </a:solidFill>
          <a:ln>
            <a:solidFill>
              <a:srgbClr val="224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63801" y="5124324"/>
            <a:ext cx="1485278" cy="30162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000" b="1">
                <a:solidFill>
                  <a:srgbClr val="F6A623"/>
                </a:solidFill>
                <a:latin typeface="Aptos"/>
              </a:defRPr>
            </a:pPr>
            <a:r>
              <a:rPr sz="1600" dirty="0"/>
              <a:t>THE PRINCIPLE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1214" y="5529290"/>
            <a:ext cx="2514600" cy="3291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ptos"/>
              </a:defRPr>
            </a:pPr>
            <a:r>
              <a:rPr dirty="0"/>
              <a:t>Automate the repeatable.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0466" y="5518190"/>
            <a:ext cx="2971800" cy="3291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900" b="1">
                <a:solidFill>
                  <a:srgbClr val="4CC9F0"/>
                </a:solidFill>
                <a:latin typeface="Aptos"/>
              </a:defRPr>
            </a:pPr>
            <a:r>
              <a:rPr dirty="0"/>
              <a:t>Review the business-critical.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8766" y="5518190"/>
            <a:ext cx="2880360" cy="3291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1900" b="1">
                <a:solidFill>
                  <a:srgbClr val="18B1A5"/>
                </a:solidFill>
                <a:latin typeface="Aptos"/>
              </a:defRPr>
            </a:pPr>
            <a:r>
              <a:rPr dirty="0"/>
              <a:t>Hand-build the exceptional.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245" y="6071682"/>
            <a:ext cx="5213030" cy="30162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defRPr sz="1100" b="0">
                <a:solidFill>
                  <a:srgbClr val="ABBACB"/>
                </a:solidFill>
                <a:latin typeface="Aptos"/>
              </a:defRPr>
            </a:pPr>
            <a:r>
              <a:rPr sz="1600" dirty="0"/>
              <a:t>That is how speed increases without letting trust decrease.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12700">
            <a:solidFill>
              <a:srgbClr val="273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>
              <a:defRPr sz="800" b="0">
                <a:solidFill>
                  <a:srgbClr val="ABBACB"/>
                </a:solidFill>
                <a:latin typeface="Aptos"/>
              </a:defRPr>
            </a:pPr>
            <a:r>
              <a:t>MicroStrategy → Power BI | Migration Strategy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>
              <a:defRPr sz="800" b="0">
                <a:solidFill>
                  <a:srgbClr val="ABBAC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387</TotalTime>
  <Words>2136</Words>
  <Application>Microsoft Office PowerPoint</Application>
  <PresentationFormat>Widescreen</PresentationFormat>
  <Paragraphs>276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Arial Nova Light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Shilewant, Shweta (RGP - Mumbai)</cp:lastModifiedBy>
  <cp:revision>15</cp:revision>
  <dcterms:created xsi:type="dcterms:W3CDTF">2013-01-27T09:14:16Z</dcterms:created>
  <dcterms:modified xsi:type="dcterms:W3CDTF">2026-09-21T07:48:39Z</dcterms:modified>
  <cp:category/>
</cp:coreProperties>
</file>